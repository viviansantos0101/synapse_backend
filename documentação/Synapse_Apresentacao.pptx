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94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274320"/>
            <a:ext cx="3200400" cy="3200400"/>
          </a:xfrm>
          <a:prstGeom prst="ellipse">
            <a:avLst/>
          </a:prstGeom>
          <a:solidFill>
            <a:srgbClr val="02C09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3200400"/>
            <a:ext cx="2286000" cy="2286000"/>
          </a:xfrm>
          <a:prstGeom prst="ellipse">
            <a:avLst/>
          </a:prstGeom>
          <a:solidFill>
            <a:srgbClr val="018A6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2084831" cy="301752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PROJETO DE ESTÁGIO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SYNAPSE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2C09A"/>
                </a:solidFill>
                <a:latin typeface="Calibri"/>
              </a:rPr>
              <a:t>Buscador Semântico de Repositórios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46120"/>
            <a:ext cx="640080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4F8"/>
                </a:solidFill>
                <a:latin typeface="Calibri"/>
              </a:rPr>
              <a:t>Descubra se sua ideia já existe na empresa —
digite palavras-chave e encontre projetos similares.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937760"/>
            <a:ext cx="877824" cy="301752"/>
          </a:xfrm>
          <a:prstGeom prst="rect">
            <a:avLst/>
          </a:prstGeom>
          <a:solidFill>
            <a:srgbClr val="01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4956048"/>
            <a:ext cx="786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4937760"/>
            <a:ext cx="978408" cy="301752"/>
          </a:xfrm>
          <a:prstGeom prst="rect">
            <a:avLst/>
          </a:prstGeom>
          <a:solidFill>
            <a:srgbClr val="01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4956048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4937760"/>
            <a:ext cx="1078992" cy="301752"/>
          </a:xfrm>
          <a:prstGeom prst="rect">
            <a:avLst/>
          </a:prstGeom>
          <a:solidFill>
            <a:srgbClr val="01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51760" y="4956048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ChromaDB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4937760"/>
            <a:ext cx="1280160" cy="301752"/>
          </a:xfrm>
          <a:prstGeom prst="rect">
            <a:avLst/>
          </a:prstGeom>
          <a:solidFill>
            <a:srgbClr val="01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31920" y="49560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Embeddings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9240" y="4937760"/>
            <a:ext cx="576072" cy="301752"/>
          </a:xfrm>
          <a:prstGeom prst="rect">
            <a:avLst/>
          </a:prstGeom>
          <a:solidFill>
            <a:srgbClr val="01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94959" y="4956048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365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94A3B8"/>
                </a:solidFill>
                <a:latin typeface="Calibri"/>
              </a:rPr>
              <a:t>Vivian</a:t>
            </a:r>
            <a:r>
              <a:rPr lang="pt-BR" sz="1300" b="0" i="0" dirty="0">
                <a:solidFill>
                  <a:srgbClr val="94A3B8"/>
                </a:solidFill>
                <a:latin typeface="Calibri"/>
              </a:rPr>
              <a:t> Santos e Gabriel Hudson (AIMS &amp; PFCT)</a:t>
            </a:r>
            <a:endParaRPr sz="1300" b="0" i="0" dirty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09A"/>
                </a:solidFill>
                <a:latin typeface="Calibr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1B2A"/>
                </a:solidFill>
                <a:latin typeface="Calibri"/>
              </a:rPr>
              <a:t>Por que o Synapse existe?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4572000" cy="36576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Cenário real na empresa: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320040" cy="320040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Um desenvolvedor tem uma nova ideia de projeto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80360"/>
            <a:ext cx="320040" cy="320040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986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Pesquisa manualmente nos repositórios da empresa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320040" cy="320040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5661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Perde horas lendo READMEs um por 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51960"/>
            <a:ext cx="320040" cy="320040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42519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702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Frequentemente, o projeto JÁ EXISTE — mas em outro nome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937760"/>
            <a:ext cx="320040" cy="32004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4937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560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  <a:latin typeface="Calibri"/>
              </a:rPr>
              <a:t>Resultado: retrabalho, duplicação, desperdício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554480"/>
            <a:ext cx="5212080" cy="4937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1745883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02C09A"/>
                </a:solidFill>
                <a:latin typeface="Calibri"/>
              </a:rPr>
              <a:t>Solução</a:t>
            </a:r>
            <a:r>
              <a:rPr lang="pt-BR" sz="2800" b="1" i="0" dirty="0">
                <a:solidFill>
                  <a:srgbClr val="02C09A"/>
                </a:solidFill>
                <a:latin typeface="Calibri"/>
              </a:rPr>
              <a:t>:</a:t>
            </a:r>
            <a:endParaRPr sz="2800" b="1" i="0" dirty="0">
              <a:solidFill>
                <a:srgbClr val="02C09A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0" y="2286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Synapse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880360"/>
            <a:ext cx="466344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b="0" i="0" dirty="0">
                <a:solidFill>
                  <a:srgbClr val="F0F4F8"/>
                </a:solidFill>
                <a:latin typeface="Calibri"/>
              </a:rPr>
              <a:t>Uma API </a:t>
            </a:r>
            <a:r>
              <a:rPr b="0" i="0" dirty="0" err="1">
                <a:solidFill>
                  <a:srgbClr val="F0F4F8"/>
                </a:solidFill>
                <a:latin typeface="Calibri"/>
              </a:rPr>
              <a:t>inteligente</a:t>
            </a:r>
            <a:r>
              <a:rPr b="0" i="0" dirty="0">
                <a:solidFill>
                  <a:srgbClr val="F0F4F8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0F4F8"/>
                </a:solidFill>
                <a:latin typeface="Calibri"/>
              </a:rPr>
              <a:t>que</a:t>
            </a:r>
            <a:r>
              <a:rPr b="0" i="0" dirty="0">
                <a:solidFill>
                  <a:srgbClr val="F0F4F8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0F4F8"/>
                </a:solidFill>
                <a:latin typeface="Calibri"/>
              </a:rPr>
              <a:t>transforma</a:t>
            </a:r>
            <a:r>
              <a:rPr b="0" i="0" dirty="0">
                <a:solidFill>
                  <a:srgbClr val="F0F4F8"/>
                </a:solidFill>
                <a:latin typeface="Calibri"/>
              </a:rPr>
              <a:t>
</a:t>
            </a:r>
            <a:r>
              <a:rPr b="0" i="0" dirty="0" err="1">
                <a:solidFill>
                  <a:srgbClr val="F0F4F8"/>
                </a:solidFill>
                <a:latin typeface="Calibri"/>
              </a:rPr>
              <a:t>os</a:t>
            </a:r>
            <a:r>
              <a:rPr b="0" i="0" dirty="0">
                <a:solidFill>
                  <a:srgbClr val="F0F4F8"/>
                </a:solidFill>
                <a:latin typeface="Calibri"/>
              </a:rPr>
              <a:t> READMEs dos </a:t>
            </a:r>
            <a:r>
              <a:rPr b="0" i="0" dirty="0" err="1">
                <a:solidFill>
                  <a:srgbClr val="F0F4F8"/>
                </a:solidFill>
                <a:latin typeface="Calibri"/>
              </a:rPr>
              <a:t>repositórios</a:t>
            </a:r>
            <a:r>
              <a:rPr b="0" i="0" dirty="0">
                <a:solidFill>
                  <a:srgbClr val="F0F4F8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0F4F8"/>
                </a:solidFill>
                <a:latin typeface="Calibri"/>
              </a:rPr>
              <a:t>em</a:t>
            </a:r>
            <a:r>
              <a:rPr b="0" i="0" dirty="0">
                <a:solidFill>
                  <a:srgbClr val="F0F4F8"/>
                </a:solidFill>
                <a:latin typeface="Calibri"/>
              </a:rPr>
              <a:t>
</a:t>
            </a:r>
            <a:r>
              <a:rPr b="0" i="0" dirty="0" err="1">
                <a:solidFill>
                  <a:srgbClr val="F0F4F8"/>
                </a:solidFill>
                <a:latin typeface="Calibri"/>
              </a:rPr>
              <a:t>vetores</a:t>
            </a:r>
            <a:r>
              <a:rPr b="0" i="0" dirty="0">
                <a:solidFill>
                  <a:srgbClr val="F0F4F8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0F4F8"/>
                </a:solidFill>
                <a:latin typeface="Calibri"/>
              </a:rPr>
              <a:t>semânticos</a:t>
            </a:r>
            <a:r>
              <a:rPr b="0" i="0" dirty="0">
                <a:solidFill>
                  <a:srgbClr val="F0F4F8"/>
                </a:solidFill>
                <a:latin typeface="Calibri"/>
              </a:rPr>
              <a:t>.
O </a:t>
            </a:r>
            <a:r>
              <a:rPr b="0" i="0" dirty="0" err="1">
                <a:solidFill>
                  <a:srgbClr val="F0F4F8"/>
                </a:solidFill>
                <a:latin typeface="Calibri"/>
              </a:rPr>
              <a:t>usuário</a:t>
            </a:r>
            <a:r>
              <a:rPr b="0" i="0" dirty="0">
                <a:solidFill>
                  <a:srgbClr val="F0F4F8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0F4F8"/>
                </a:solidFill>
                <a:latin typeface="Calibri"/>
              </a:rPr>
              <a:t>digita</a:t>
            </a:r>
            <a:r>
              <a:rPr b="0" i="0" dirty="0">
                <a:solidFill>
                  <a:srgbClr val="F0F4F8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0F4F8"/>
                </a:solidFill>
                <a:latin typeface="Calibri"/>
              </a:rPr>
              <a:t>palavras-chave</a:t>
            </a:r>
            <a:r>
              <a:rPr b="0" i="0" dirty="0">
                <a:solidFill>
                  <a:srgbClr val="F0F4F8"/>
                </a:solidFill>
                <a:latin typeface="Calibri"/>
              </a:rPr>
              <a:t>
e o </a:t>
            </a:r>
            <a:r>
              <a:rPr b="0" i="0" dirty="0" err="1">
                <a:solidFill>
                  <a:srgbClr val="F0F4F8"/>
                </a:solidFill>
                <a:latin typeface="Calibri"/>
              </a:rPr>
              <a:t>sistema</a:t>
            </a:r>
            <a:r>
              <a:rPr b="0" i="0" dirty="0">
                <a:solidFill>
                  <a:srgbClr val="F0F4F8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0F4F8"/>
                </a:solidFill>
                <a:latin typeface="Calibri"/>
              </a:rPr>
              <a:t>encontra</a:t>
            </a:r>
            <a:r>
              <a:rPr b="0" i="0" dirty="0">
                <a:solidFill>
                  <a:srgbClr val="F0F4F8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0F4F8"/>
                </a:solidFill>
                <a:latin typeface="Calibri"/>
              </a:rPr>
              <a:t>projetos</a:t>
            </a:r>
            <a:r>
              <a:rPr b="0" i="0" dirty="0">
                <a:solidFill>
                  <a:srgbClr val="F0F4F8"/>
                </a:solidFill>
                <a:latin typeface="Calibri"/>
              </a:rPr>
              <a:t>
</a:t>
            </a:r>
            <a:r>
              <a:rPr b="0" i="0" dirty="0" err="1">
                <a:solidFill>
                  <a:srgbClr val="F0F4F8"/>
                </a:solidFill>
                <a:latin typeface="Calibri"/>
              </a:rPr>
              <a:t>similares</a:t>
            </a:r>
            <a:r>
              <a:rPr b="0" i="0" dirty="0">
                <a:solidFill>
                  <a:srgbClr val="F0F4F8"/>
                </a:solidFill>
                <a:latin typeface="Calibri"/>
              </a:rPr>
              <a:t> — </a:t>
            </a:r>
            <a:r>
              <a:rPr b="0" i="0" dirty="0" err="1">
                <a:solidFill>
                  <a:srgbClr val="F0F4F8"/>
                </a:solidFill>
                <a:latin typeface="Calibri"/>
              </a:rPr>
              <a:t>em</a:t>
            </a:r>
            <a:r>
              <a:rPr b="0" i="0" dirty="0">
                <a:solidFill>
                  <a:srgbClr val="F0F4F8"/>
                </a:solidFill>
                <a:latin typeface="Calibri"/>
              </a:rPr>
              <a:t> </a:t>
            </a:r>
            <a:r>
              <a:rPr lang="pt-BR" dirty="0">
                <a:solidFill>
                  <a:srgbClr val="F0F4F8"/>
                </a:solidFill>
                <a:latin typeface="Calibri"/>
              </a:rPr>
              <a:t>minutos.</a:t>
            </a:r>
          </a:p>
          <a:p>
            <a:pPr algn="just"/>
            <a:endParaRPr lang="pt-BR" b="0" i="0" dirty="0">
              <a:solidFill>
                <a:srgbClr val="F0F4F8"/>
              </a:solidFill>
              <a:latin typeface="Calibri"/>
            </a:endParaRPr>
          </a:p>
          <a:p>
            <a:pPr algn="just"/>
            <a:r>
              <a:rPr lang="pt-BR" dirty="0">
                <a:solidFill>
                  <a:srgbClr val="F0F4F8"/>
                </a:solidFill>
                <a:latin typeface="Calibri"/>
              </a:rPr>
              <a:t>Posteriormente podemos gerar analises comparativas para verificar elegibilidade de um </a:t>
            </a:r>
            <a:r>
              <a:rPr lang="pt-BR" b="1" dirty="0">
                <a:solidFill>
                  <a:srgbClr val="F0F4F8"/>
                </a:solidFill>
                <a:latin typeface="Calibri"/>
              </a:rPr>
              <a:t>componente </a:t>
            </a:r>
            <a:r>
              <a:rPr lang="pt-BR" dirty="0">
                <a:solidFill>
                  <a:srgbClr val="F0F4F8"/>
                </a:solidFill>
                <a:latin typeface="Calibri"/>
              </a:rPr>
              <a:t>da Atech! (aproveitar o mesmo codigo em projetos diferentes)</a:t>
            </a:r>
            <a:endParaRPr lang="pt-BR" b="0" i="0" dirty="0">
              <a:solidFill>
                <a:srgbClr val="F0F4F8"/>
              </a:solidFill>
              <a:latin typeface="Calibri"/>
            </a:endParaRPr>
          </a:p>
          <a:p>
            <a:pPr algn="l"/>
            <a:endParaRPr lang="pt-BR" sz="1400" dirty="0">
              <a:solidFill>
                <a:srgbClr val="F0F4F8"/>
              </a:solidFill>
              <a:latin typeface="Calibri"/>
            </a:endParaRPr>
          </a:p>
          <a:p>
            <a:pPr algn="l"/>
            <a:endParaRPr sz="1400" b="0" i="0" dirty="0">
              <a:solidFill>
                <a:srgbClr val="F0F4F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09A"/>
                </a:solidFill>
                <a:latin typeface="Calibri"/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Como o Synapse funciona?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4572000" cy="36576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606040" cy="2926080"/>
          </a:xfrm>
          <a:prstGeom prst="rect">
            <a:avLst/>
          </a:prstGeom>
          <a:solidFill>
            <a:srgbClr val="10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2606040" cy="502920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476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01  README.md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O README de cada
repositório da empresa
é enviado para a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09A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920240"/>
            <a:ext cx="2606040" cy="2926080"/>
          </a:xfrm>
          <a:prstGeom prst="rect">
            <a:avLst/>
          </a:prstGeom>
          <a:solidFill>
            <a:srgbClr val="10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1920240"/>
            <a:ext cx="2606040" cy="502920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19476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02  Chunking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603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O texto é dividido
em seções por heading
para maior precisão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1031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09A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920240"/>
            <a:ext cx="2606040" cy="2926080"/>
          </a:xfrm>
          <a:prstGeom prst="rect">
            <a:avLst/>
          </a:prstGeom>
          <a:solidFill>
            <a:srgbClr val="10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920240"/>
            <a:ext cx="2606040" cy="502920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19476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03  Embedding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603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Cada chunk vira
um vetor numérico
via Sentence-BERT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1392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09A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920240"/>
            <a:ext cx="2606040" cy="2926080"/>
          </a:xfrm>
          <a:prstGeom prst="rect">
            <a:avLst/>
          </a:prstGeom>
          <a:solidFill>
            <a:srgbClr val="10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98280" y="1920240"/>
            <a:ext cx="2606040" cy="502920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40" y="19476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04  ChromaDB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5603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Os vetores são
armazenados no banco
vetorial persistente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074920"/>
            <a:ext cx="11430000" cy="36576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09A"/>
                </a:solidFill>
                <a:latin typeface="Calibri"/>
              </a:rPr>
              <a:t>FLUXO DE BUSCA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623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Query do usuário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623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→  Embedding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5623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→  Busca coseno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5623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→  Top-K resultados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5623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→  Repos rankeados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09A"/>
                </a:solidFill>
                <a:latin typeface="Calibri"/>
              </a:rPr>
              <a:t>TECNOLOGIAS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1B2A"/>
                </a:solidFill>
                <a:latin typeface="Calibri"/>
              </a:rPr>
              <a:t>Stack técnica do projeto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4572000" cy="36576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36576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09A"/>
                </a:solidFill>
                <a:latin typeface="Calibri"/>
              </a:rPr>
              <a:t>FastAPI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783080"/>
            <a:ext cx="978408" cy="301752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88920" y="1801368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Framework web Python
para a API REST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9164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691640"/>
            <a:ext cx="36576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7647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09A"/>
                </a:solidFill>
                <a:latin typeface="Calibri"/>
              </a:rPr>
              <a:t>ChromaDB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68796" y="1773936"/>
            <a:ext cx="1481328" cy="301752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3096" y="1794764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Vector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2860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Banco vetorial local
com persistência em disco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69164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691640"/>
            <a:ext cx="36576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17647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09A"/>
                </a:solidFill>
                <a:latin typeface="Calibri"/>
              </a:rPr>
              <a:t>Sentence-BERT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07040" y="1783080"/>
            <a:ext cx="1078992" cy="301752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52760" y="1801368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NLP /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2860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Modelo de embeddings
multilíngue (PT + EN)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88620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3886200"/>
            <a:ext cx="36576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9593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09A"/>
                </a:solidFill>
                <a:latin typeface="Calibri"/>
              </a:rPr>
              <a:t>Pydantic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3977639"/>
            <a:ext cx="1179576" cy="301752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88920" y="3995927"/>
            <a:ext cx="1088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Validação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4805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Validação e tipagem
dos dados da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88620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97680" y="3886200"/>
            <a:ext cx="36576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34840" y="39593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09A"/>
                </a:solidFill>
                <a:latin typeface="Calibri"/>
              </a:rPr>
              <a:t>Uvicorn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3977639"/>
            <a:ext cx="1078992" cy="301752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20840" y="3995927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Servidor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4805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Servidor ASGI
async de alta performance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886200"/>
            <a:ext cx="36576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29600" y="3886200"/>
            <a:ext cx="36576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66760" y="39593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09A"/>
                </a:solidFill>
                <a:latin typeface="Calibri"/>
              </a:rPr>
              <a:t>Python 3.12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07040" y="3977639"/>
            <a:ext cx="676656" cy="301752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52760" y="3995927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4805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Linguagem principal
do projeto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989320"/>
            <a:ext cx="11430000" cy="640080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" y="6170860"/>
            <a:ext cx="11155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0" dirty="0">
                <a:solidFill>
                  <a:srgbClr val="0D1B2A"/>
                </a:solidFill>
                <a:latin typeface="Calibri"/>
              </a:rPr>
              <a:t>  Modelo</a:t>
            </a:r>
            <a:r>
              <a:rPr lang="pt-BR" sz="1400" i="0" dirty="0">
                <a:solidFill>
                  <a:srgbClr val="0D1B2A"/>
                </a:solidFill>
                <a:latin typeface="Calibri"/>
              </a:rPr>
              <a:t> que estamos usando</a:t>
            </a:r>
            <a:r>
              <a:rPr sz="1400" i="0" dirty="0">
                <a:solidFill>
                  <a:srgbClr val="0D1B2A"/>
                </a:solidFill>
                <a:latin typeface="Calibri"/>
              </a:rPr>
              <a:t>: </a:t>
            </a:r>
            <a:r>
              <a:rPr sz="1400" b="1" i="0" dirty="0">
                <a:solidFill>
                  <a:srgbClr val="0D1B2A"/>
                </a:solidFill>
                <a:latin typeface="Calibri"/>
              </a:rPr>
              <a:t>paraphrase-multilingual-MiniLM-L12-v2</a:t>
            </a:r>
            <a:r>
              <a:rPr sz="1400" i="0" dirty="0">
                <a:solidFill>
                  <a:srgbClr val="0D1B2A"/>
                </a:solidFill>
                <a:latin typeface="Calibri"/>
              </a:rPr>
              <a:t>  —  </a:t>
            </a:r>
            <a:r>
              <a:rPr sz="1400" i="0" dirty="0" err="1">
                <a:solidFill>
                  <a:srgbClr val="0D1B2A"/>
                </a:solidFill>
                <a:latin typeface="Calibri"/>
              </a:rPr>
              <a:t>roda</a:t>
            </a:r>
            <a:r>
              <a:rPr sz="1400" b="1" i="0" dirty="0">
                <a:solidFill>
                  <a:srgbClr val="0D1B2A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0D1B2A"/>
                </a:solidFill>
                <a:latin typeface="Calibri"/>
              </a:rPr>
              <a:t>localmente</a:t>
            </a:r>
            <a:r>
              <a:rPr sz="1400" i="0" dirty="0">
                <a:solidFill>
                  <a:srgbClr val="0D1B2A"/>
                </a:solidFill>
                <a:latin typeface="Calibri"/>
              </a:rPr>
              <a:t>, </a:t>
            </a:r>
            <a:r>
              <a:rPr sz="1400" b="1" i="0" dirty="0" err="1">
                <a:solidFill>
                  <a:srgbClr val="0D1B2A"/>
                </a:solidFill>
                <a:latin typeface="Calibri"/>
              </a:rPr>
              <a:t>sem</a:t>
            </a:r>
            <a:r>
              <a:rPr sz="1400" b="1" i="0" dirty="0">
                <a:solidFill>
                  <a:srgbClr val="0D1B2A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0D1B2A"/>
                </a:solidFill>
                <a:latin typeface="Calibri"/>
              </a:rPr>
              <a:t>custo</a:t>
            </a:r>
            <a:r>
              <a:rPr sz="1400" b="1" i="0" dirty="0">
                <a:solidFill>
                  <a:srgbClr val="0D1B2A"/>
                </a:solidFill>
                <a:latin typeface="Calibri"/>
              </a:rPr>
              <a:t> </a:t>
            </a:r>
            <a:r>
              <a:rPr sz="1400" i="0" dirty="0">
                <a:solidFill>
                  <a:srgbClr val="0D1B2A"/>
                </a:solidFill>
                <a:latin typeface="Calibri"/>
              </a:rPr>
              <a:t>de API, </a:t>
            </a:r>
            <a:r>
              <a:rPr sz="1400" i="0" dirty="0" err="1">
                <a:solidFill>
                  <a:srgbClr val="0D1B2A"/>
                </a:solidFill>
                <a:latin typeface="Calibri"/>
              </a:rPr>
              <a:t>suporta</a:t>
            </a:r>
            <a:r>
              <a:rPr sz="1400" i="0" dirty="0">
                <a:solidFill>
                  <a:srgbClr val="0D1B2A"/>
                </a:solidFill>
                <a:latin typeface="Calibri"/>
              </a:rPr>
              <a:t> PT-BR </a:t>
            </a:r>
            <a:r>
              <a:rPr sz="1400" i="0" dirty="0" err="1">
                <a:solidFill>
                  <a:srgbClr val="0D1B2A"/>
                </a:solidFill>
                <a:latin typeface="Calibri"/>
              </a:rPr>
              <a:t>nativamente</a:t>
            </a:r>
            <a:r>
              <a:rPr sz="1400" i="0" dirty="0">
                <a:solidFill>
                  <a:srgbClr val="0D1B2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09A"/>
                </a:solidFill>
                <a:latin typeface="Calibri"/>
              </a:rPr>
              <a:t>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Estrutura do projeto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4572000" cy="36576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5029200" cy="5029200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onsolas"/>
              </a:rPr>
              <a:t>semantic_search/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onsolas"/>
              </a:rPr>
              <a:t>  ├── app/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2C09A"/>
                </a:solidFill>
                <a:latin typeface="Consolas"/>
              </a:rPr>
              <a:t>  │   ├── main.py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onsolas"/>
              </a:rPr>
              <a:t>  │   ├── core/settings.py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onsolas"/>
              </a:rPr>
              <a:t>  │   ├── models/schemas.py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onsolas"/>
              </a:rPr>
              <a:t>  │   ├── services/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09A"/>
                </a:solidFill>
                <a:latin typeface="Consolas"/>
              </a:rPr>
              <a:t>  │   │   ├── chunker.py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09A"/>
                </a:solidFill>
                <a:latin typeface="Consolas"/>
              </a:rPr>
              <a:t>  │   │   ├── embedding_service.py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09A"/>
                </a:solidFill>
                <a:latin typeface="Consolas"/>
              </a:rPr>
              <a:t>  │   │   └── vector_store.py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09A"/>
                </a:solidFill>
                <a:latin typeface="Consolas"/>
              </a:rPr>
              <a:t>  │   └── api/routes.py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40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onsolas"/>
              </a:rPr>
              <a:t>  ├── scripts/seed_sample_data.py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06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onsolas"/>
              </a:rPr>
              <a:t>  └── tests/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1645920"/>
            <a:ext cx="3063240" cy="2194560"/>
          </a:xfrm>
          <a:prstGeom prst="rect">
            <a:avLst/>
          </a:prstGeom>
          <a:solidFill>
            <a:srgbClr val="10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60720" y="1645920"/>
            <a:ext cx="3063240" cy="384048"/>
          </a:xfrm>
          <a:prstGeom prst="rect">
            <a:avLst/>
          </a:prstGeom>
          <a:solidFill>
            <a:srgbClr val="01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97880" y="170078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chunker.py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148840"/>
            <a:ext cx="2834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Divide o README em chunks por
seção (headings). Remove código,
links e formatação markdown.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1645920"/>
            <a:ext cx="3063240" cy="2194560"/>
          </a:xfrm>
          <a:prstGeom prst="rect">
            <a:avLst/>
          </a:prstGeom>
          <a:solidFill>
            <a:srgbClr val="10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52560" y="1645920"/>
            <a:ext cx="3063240" cy="384048"/>
          </a:xfrm>
          <a:prstGeom prst="rect">
            <a:avLst/>
          </a:prstGeom>
          <a:solidFill>
            <a:srgbClr val="01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9720" y="170078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embedding_service.py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148840"/>
            <a:ext cx="2834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Carrega o modelo Sentence-BERT.
Transforma texto em vetores de
384 dimensões. Singleton.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4023360"/>
            <a:ext cx="3063240" cy="2194560"/>
          </a:xfrm>
          <a:prstGeom prst="rect">
            <a:avLst/>
          </a:prstGeom>
          <a:solidFill>
            <a:srgbClr val="10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60720" y="4023360"/>
            <a:ext cx="3063240" cy="384048"/>
          </a:xfrm>
          <a:prstGeom prst="rect">
            <a:avLst/>
          </a:prstGeom>
          <a:solidFill>
            <a:srgbClr val="01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97880" y="4078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vector_store.py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4526280"/>
            <a:ext cx="2834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Abstração do ChromaDB.
Upsert, busca por similaridade
coseno, deduplicação por repo.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4023360"/>
            <a:ext cx="3063240" cy="2194560"/>
          </a:xfrm>
          <a:prstGeom prst="rect">
            <a:avLst/>
          </a:prstGeom>
          <a:solidFill>
            <a:srgbClr val="10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52560" y="4023360"/>
            <a:ext cx="3063240" cy="384048"/>
          </a:xfrm>
          <a:prstGeom prst="rect">
            <a:avLst/>
          </a:prstGeom>
          <a:solidFill>
            <a:srgbClr val="01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89720" y="4078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routes.py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4526280"/>
            <a:ext cx="2834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Endpoints FastAPI:
POST /index, POST /search,
DELETE /index, GET /stats.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09A"/>
                </a:solidFill>
                <a:latin typeface="Calibri"/>
              </a:rPr>
              <a:t>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1B2A"/>
                </a:solidFill>
                <a:latin typeface="Calibri"/>
              </a:rPr>
              <a:t>Endpoints disponíveis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4572000" cy="36576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005840" cy="502920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76479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691640"/>
            <a:ext cx="10241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17556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nsolas"/>
              </a:rPr>
              <a:t>/api/v1/index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783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Indexa um README.md no banco vetorial.   Divide em chunks, gera embeddings e salva.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51760"/>
            <a:ext cx="1005840" cy="502920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7249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2651760"/>
            <a:ext cx="10241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54480" y="27157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nsolas"/>
              </a:rPr>
              <a:t>/api/v1/search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743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Busca semântica por palavras-chave.   Retorna repos rankeados por similaridade.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11880"/>
            <a:ext cx="1005840" cy="50292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6850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DELETE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3611880"/>
            <a:ext cx="10241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6758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nsolas"/>
              </a:rPr>
              <a:t>/api/v1/index/{repo}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703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Remove todos os chunks de um repositório do índice.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572000"/>
            <a:ext cx="100584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6451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7320" y="4572000"/>
            <a:ext cx="10241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54480" y="46360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nsolas"/>
              </a:rPr>
              <a:t>/api/v1/stats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663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Retorna estatísticas: total de chunks e repos indexados.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532120"/>
            <a:ext cx="100584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560527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17320" y="5532120"/>
            <a:ext cx="10241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554480" y="55961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onsolas"/>
              </a:rPr>
              <a:t>/health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623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Health check da API. Retorna status e versão.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solidFill>
            <a:srgbClr val="E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Documentação automática disponível em: http://localhost:8000/docs  (Swagger UI)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09A"/>
                </a:solidFill>
                <a:latin typeface="Calibr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Resultado na prática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4572000" cy="36576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94A3B8"/>
                </a:solidFill>
                <a:latin typeface="Calibri"/>
              </a:rPr>
              <a:t>Usuário</a:t>
            </a:r>
            <a:r>
              <a:rPr b="1" i="0" dirty="0">
                <a:solidFill>
                  <a:srgbClr val="94A3B8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94A3B8"/>
                </a:solidFill>
                <a:latin typeface="Calibri"/>
              </a:rPr>
              <a:t>digita</a:t>
            </a:r>
            <a:r>
              <a:rPr b="1" i="0" dirty="0">
                <a:solidFill>
                  <a:srgbClr val="94A3B8"/>
                </a:solidFill>
                <a:latin typeface="Calibri"/>
              </a:rPr>
              <a:t>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65960"/>
            <a:ext cx="7772400" cy="594360"/>
          </a:xfrm>
          <a:prstGeom prst="rect">
            <a:avLst/>
          </a:prstGeom>
          <a:solidFill>
            <a:srgbClr val="0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132111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2C09A"/>
                </a:solidFill>
                <a:latin typeface="Consolas"/>
              </a:rPr>
              <a:t>  "</a:t>
            </a:r>
            <a:r>
              <a:rPr sz="1400" b="1" i="0" dirty="0" err="1">
                <a:solidFill>
                  <a:srgbClr val="02C09A"/>
                </a:solidFill>
                <a:latin typeface="Consolas"/>
              </a:rPr>
              <a:t>orquestrador</a:t>
            </a:r>
            <a:r>
              <a:rPr sz="1400" b="1" i="0" dirty="0">
                <a:solidFill>
                  <a:srgbClr val="02C09A"/>
                </a:solidFill>
                <a:latin typeface="Consolas"/>
              </a:rPr>
              <a:t> de workflows </a:t>
            </a:r>
            <a:r>
              <a:rPr sz="1400" b="1" i="0" dirty="0" err="1">
                <a:solidFill>
                  <a:srgbClr val="02C09A"/>
                </a:solidFill>
                <a:latin typeface="Consolas"/>
              </a:rPr>
              <a:t>automação</a:t>
            </a:r>
            <a:r>
              <a:rPr sz="1400" b="1" i="0" dirty="0">
                <a:solidFill>
                  <a:srgbClr val="02C09A"/>
                </a:solidFill>
                <a:latin typeface="Consolas"/>
              </a:rPr>
              <a:t> YAML"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97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Synapse retorna: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08960"/>
            <a:ext cx="11430000" cy="914400"/>
          </a:xfrm>
          <a:prstGeom prst="rect">
            <a:avLst/>
          </a:prstGeom>
          <a:solidFill>
            <a:srgbClr val="10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54864" cy="914400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1821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empresa/fluxforge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1821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2C09A"/>
                </a:solidFill>
                <a:latin typeface="Calibri"/>
              </a:rPr>
              <a:t>Score: 0.81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Orquestrador de workflows orientado a eventos com YAML declarativo e automação de pipelines...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14800"/>
            <a:ext cx="11430000" cy="914400"/>
          </a:xfrm>
          <a:prstGeom prst="rect">
            <a:avLst/>
          </a:prstGeom>
          <a:solidFill>
            <a:srgbClr val="10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114800"/>
            <a:ext cx="54864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1879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empresa/atech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187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A623"/>
                </a:solidFill>
                <a:latin typeface="Calibri"/>
              </a:rPr>
              <a:t>Score: 0.54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Automação de projetos com pipelines e processamento de dados estruturados...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120640"/>
            <a:ext cx="11430000" cy="914400"/>
          </a:xfrm>
          <a:prstGeom prst="rect">
            <a:avLst/>
          </a:prstGeom>
          <a:solidFill>
            <a:srgbClr val="10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120640"/>
            <a:ext cx="54864" cy="914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1937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empresa/nebulacache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51937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94A3B8"/>
                </a:solidFill>
                <a:latin typeface="Calibri"/>
              </a:rPr>
              <a:t>Score: 0.31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77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Sistema de cache distribuído com invalidação e sincronização entre serviços...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172200"/>
            <a:ext cx="1143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94A3B8"/>
                </a:solidFill>
                <a:latin typeface="Calibri"/>
              </a:rPr>
              <a:t>Score: 0.6–1.0 = </a:t>
            </a:r>
            <a:r>
              <a:rPr sz="1600" b="1" i="0" dirty="0" err="1">
                <a:solidFill>
                  <a:srgbClr val="94A3B8"/>
                </a:solidFill>
                <a:latin typeface="Calibri"/>
              </a:rPr>
              <a:t>muito</a:t>
            </a:r>
            <a:r>
              <a:rPr sz="1600" b="1" i="0" dirty="0">
                <a:solidFill>
                  <a:srgbClr val="94A3B8"/>
                </a:solidFill>
                <a:latin typeface="Calibri"/>
              </a:rPr>
              <a:t> similar   |   0.3–0.6 = </a:t>
            </a:r>
            <a:r>
              <a:rPr sz="1600" b="1" i="0" dirty="0" err="1">
                <a:solidFill>
                  <a:srgbClr val="94A3B8"/>
                </a:solidFill>
                <a:latin typeface="Calibri"/>
              </a:rPr>
              <a:t>possível</a:t>
            </a:r>
            <a:r>
              <a:rPr sz="1600" b="1" i="0" dirty="0">
                <a:solidFill>
                  <a:srgbClr val="94A3B8"/>
                </a:solidFill>
                <a:latin typeface="Calibri"/>
              </a:rPr>
              <a:t> match   |   &lt; 0.3 = </a:t>
            </a:r>
            <a:r>
              <a:rPr sz="1600" b="1" i="0" dirty="0" err="1">
                <a:solidFill>
                  <a:srgbClr val="94A3B8"/>
                </a:solidFill>
                <a:latin typeface="Calibri"/>
              </a:rPr>
              <a:t>não</a:t>
            </a:r>
            <a:r>
              <a:rPr sz="1600" b="1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94A3B8"/>
                </a:solidFill>
                <a:latin typeface="Calibri"/>
              </a:rPr>
              <a:t>relacionado</a:t>
            </a:r>
            <a:endParaRPr sz="1600" b="1" i="0" dirty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09A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1B2A"/>
                </a:solidFill>
                <a:latin typeface="Calibri"/>
              </a:rPr>
              <a:t>Próximos passos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4572000" cy="36576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365760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47672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0D1B2A"/>
                </a:solidFill>
                <a:latin typeface="Calibri"/>
              </a:rPr>
              <a:t>Integração</a:t>
            </a:r>
            <a:r>
              <a:rPr lang="pt-BR" sz="1600" b="1" i="0" dirty="0">
                <a:solidFill>
                  <a:srgbClr val="0D1B2A"/>
                </a:solidFill>
                <a:latin typeface="Calibri"/>
              </a:rPr>
              <a:t> ao GitLab</a:t>
            </a:r>
            <a:endParaRPr sz="1600" b="1" i="0" dirty="0">
              <a:solidFill>
                <a:srgbClr val="0D1B2A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3657600" cy="27432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33832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latin typeface="Calibri"/>
              </a:rPr>
              <a:t>Indexar</a:t>
            </a:r>
            <a:r>
              <a:rPr sz="1400" b="0" i="0" dirty="0">
                <a:latin typeface="Calibri"/>
              </a:rPr>
              <a:t> READMEs </a:t>
            </a:r>
            <a:r>
              <a:rPr sz="1400" b="0" i="0" dirty="0" err="1">
                <a:latin typeface="Calibri"/>
              </a:rPr>
              <a:t>automaticamente</a:t>
            </a:r>
            <a:r>
              <a:rPr sz="1400" b="0" i="0" dirty="0">
                <a:latin typeface="Calibri"/>
              </a:rPr>
              <a:t>
via Git</a:t>
            </a:r>
            <a:r>
              <a:rPr lang="pt-BR" sz="1400" b="0" i="0" dirty="0">
                <a:latin typeface="Calibri"/>
              </a:rPr>
              <a:t>Lab</a:t>
            </a:r>
            <a:r>
              <a:rPr sz="1400" b="0" i="0" dirty="0">
                <a:latin typeface="Calibri"/>
              </a:rPr>
              <a:t> API + webhook </a:t>
            </a:r>
            <a:r>
              <a:rPr sz="1400" b="0" i="0" dirty="0" err="1">
                <a:latin typeface="Calibri"/>
              </a:rPr>
              <a:t>ao</a:t>
            </a:r>
            <a:r>
              <a:rPr sz="1400" b="0" i="0" dirty="0">
                <a:latin typeface="Calibri"/>
              </a:rPr>
              <a:t> </a:t>
            </a:r>
            <a:r>
              <a:rPr sz="1400" b="0" i="0" dirty="0" err="1">
                <a:latin typeface="Calibri"/>
              </a:rPr>
              <a:t>fazer</a:t>
            </a:r>
            <a:r>
              <a:rPr sz="1400" b="0" i="0" dirty="0">
                <a:latin typeface="Calibri"/>
              </a:rPr>
              <a:t> push</a:t>
            </a:r>
            <a:r>
              <a:rPr lang="pt-BR" sz="1400" b="0" i="0" dirty="0">
                <a:latin typeface="Calibri"/>
              </a:rPr>
              <a:t> ou através de cadastro manual de readmes pelos devs. (estamos pesquisando ainda)</a:t>
            </a:r>
            <a:endParaRPr sz="1400" b="0" i="0" dirty="0"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97680" y="1691640"/>
            <a:ext cx="365760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0" y="1947672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D1B2A"/>
                </a:solidFill>
                <a:latin typeface="Calibri"/>
              </a:rPr>
              <a:t>Interface</a:t>
            </a:r>
            <a:r>
              <a:rPr lang="pt-BR" sz="1600" b="1" dirty="0">
                <a:solidFill>
                  <a:srgbClr val="0D1B2A"/>
                </a:solidFill>
                <a:latin typeface="Calibri"/>
              </a:rPr>
              <a:t>/ acesso</a:t>
            </a:r>
            <a:endParaRPr sz="1600" b="1" i="0" dirty="0">
              <a:solidFill>
                <a:srgbClr val="0D1B2A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97680" y="2468880"/>
            <a:ext cx="3657600" cy="27432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2606040"/>
            <a:ext cx="33832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400" dirty="0">
                <a:latin typeface="Calibri"/>
              </a:rPr>
              <a:t>Estamos fazendo uma pesquisa com o forms pra saber onde seria ideal a aplicãção estar, se no teams, no portal, na IDE etc</a:t>
            </a:r>
            <a:endParaRPr sz="1400" b="0" i="0" dirty="0"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29600" y="1691640"/>
            <a:ext cx="365760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17380" y="1947672"/>
            <a:ext cx="117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1" i="0" dirty="0">
                <a:solidFill>
                  <a:srgbClr val="0D1B2A"/>
                </a:solidFill>
                <a:latin typeface="Calibri"/>
              </a:rPr>
              <a:t>Segurança</a:t>
            </a:r>
            <a:endParaRPr sz="1600" b="1" i="0" dirty="0">
              <a:solidFill>
                <a:srgbClr val="0D1B2A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29600" y="2468880"/>
            <a:ext cx="3657600" cy="27432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2606040"/>
            <a:ext cx="33832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latin typeface="Calibri"/>
              </a:rPr>
              <a:t>Proteger</a:t>
            </a:r>
            <a:r>
              <a:rPr sz="1400" b="0" i="0" dirty="0">
                <a:latin typeface="Calibri"/>
              </a:rPr>
              <a:t> endpoints de </a:t>
            </a:r>
            <a:r>
              <a:rPr sz="1400" b="0" i="0" dirty="0" err="1">
                <a:latin typeface="Calibri"/>
              </a:rPr>
              <a:t>indexação</a:t>
            </a:r>
            <a:r>
              <a:rPr sz="1400" b="0" i="0" dirty="0">
                <a:latin typeface="Calibri"/>
              </a:rPr>
              <a:t>
com tokens de API </a:t>
            </a:r>
            <a:r>
              <a:rPr sz="1400" b="0" i="0" dirty="0" err="1">
                <a:latin typeface="Calibri"/>
              </a:rPr>
              <a:t>internos</a:t>
            </a:r>
            <a:endParaRPr lang="pt-BR" sz="1400" dirty="0">
              <a:latin typeface="Calibri"/>
            </a:endParaRPr>
          </a:p>
          <a:p>
            <a:pPr algn="l"/>
            <a:r>
              <a:rPr lang="pt-BR" sz="1400" b="0" i="0" dirty="0">
                <a:latin typeface="Calibri"/>
              </a:rPr>
              <a:t>- Verificar com S.I sobre vunerabilidades e projetos confidenciais.</a:t>
            </a:r>
            <a:endParaRPr sz="1400" b="0" i="0" dirty="0"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5760" y="3977639"/>
            <a:ext cx="365760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34440" y="4233672"/>
            <a:ext cx="1711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0D1B2A"/>
                </a:solidFill>
                <a:latin typeface="Calibri"/>
              </a:rPr>
              <a:t>Reindexação</a:t>
            </a:r>
            <a:r>
              <a:rPr sz="1600" b="1" i="0" dirty="0">
                <a:solidFill>
                  <a:srgbClr val="0D1B2A"/>
                </a:solidFill>
                <a:latin typeface="Calibri"/>
              </a:rPr>
              <a:t> Auto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54879"/>
            <a:ext cx="3657600" cy="27432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892040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0" dirty="0" err="1">
                <a:latin typeface="Calibri"/>
              </a:rPr>
              <a:t>Atualizar</a:t>
            </a:r>
            <a:r>
              <a:rPr sz="1400" i="0" dirty="0">
                <a:latin typeface="Calibri"/>
              </a:rPr>
              <a:t> o </a:t>
            </a:r>
            <a:r>
              <a:rPr sz="1400" i="0" dirty="0" err="1">
                <a:latin typeface="Calibri"/>
              </a:rPr>
              <a:t>índice</a:t>
            </a:r>
            <a:r>
              <a:rPr sz="1400" i="0" dirty="0">
                <a:latin typeface="Calibri"/>
              </a:rPr>
              <a:t> </a:t>
            </a:r>
            <a:r>
              <a:rPr sz="1400" i="0" dirty="0" err="1">
                <a:latin typeface="Calibri"/>
              </a:rPr>
              <a:t>automaticamente</a:t>
            </a:r>
            <a:r>
              <a:rPr sz="1400" i="0" dirty="0">
                <a:latin typeface="Calibri"/>
              </a:rPr>
              <a:t>
</a:t>
            </a:r>
            <a:r>
              <a:rPr sz="1400" i="0" dirty="0" err="1">
                <a:latin typeface="Calibri"/>
              </a:rPr>
              <a:t>quando</a:t>
            </a:r>
            <a:r>
              <a:rPr sz="1400" i="0" dirty="0">
                <a:latin typeface="Calibri"/>
              </a:rPr>
              <a:t> um README é </a:t>
            </a:r>
            <a:r>
              <a:rPr sz="1400" i="0" dirty="0" err="1">
                <a:latin typeface="Calibri"/>
              </a:rPr>
              <a:t>alterado</a:t>
            </a:r>
            <a:endParaRPr sz="1400" i="0" dirty="0"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297680" y="3977639"/>
            <a:ext cx="365760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66360" y="4233672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1" i="0" dirty="0">
                <a:solidFill>
                  <a:srgbClr val="0D1B2A"/>
                </a:solidFill>
                <a:latin typeface="Calibri"/>
              </a:rPr>
              <a:t>Analise das saídas</a:t>
            </a:r>
            <a:endParaRPr sz="1600" b="1" i="0" dirty="0">
              <a:solidFill>
                <a:srgbClr val="0D1B2A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297680" y="4754879"/>
            <a:ext cx="3657600" cy="27432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0" y="4963140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400" b="0" i="0" dirty="0">
                <a:latin typeface="Calibri"/>
              </a:rPr>
              <a:t>Entender se a busca esta sendo eficiente e o que pode ser melhorado.</a:t>
            </a:r>
            <a:endParaRPr sz="1400" b="0" i="0" dirty="0"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229600" y="3977639"/>
            <a:ext cx="365760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98280" y="4233672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600" b="1" dirty="0">
                <a:solidFill>
                  <a:srgbClr val="0D1B2A"/>
                </a:solidFill>
                <a:latin typeface="Calibri"/>
              </a:rPr>
              <a:t>Componentização</a:t>
            </a:r>
            <a:endParaRPr sz="1600" b="1" i="0" dirty="0">
              <a:solidFill>
                <a:srgbClr val="0D1B2A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229600" y="4754879"/>
            <a:ext cx="3657600" cy="27432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66760" y="5010320"/>
            <a:ext cx="33832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400" b="0" i="0" dirty="0">
                <a:latin typeface="Calibri"/>
              </a:rPr>
              <a:t>O  que pode ser reutilizado e componentizado a partir dessas analises de  scores das buscas. </a:t>
            </a:r>
            <a:endParaRPr sz="1400" b="0" i="0" dirty="0"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086600" y="21520"/>
            <a:ext cx="5029200" cy="5029200"/>
          </a:xfrm>
          <a:prstGeom prst="ellipse">
            <a:avLst/>
          </a:prstGeom>
          <a:solidFill>
            <a:srgbClr val="02C09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SYNAPSE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880360"/>
            <a:ext cx="5486400" cy="45720"/>
          </a:xfrm>
          <a:prstGeom prst="rect">
            <a:avLst/>
          </a:prstGeom>
          <a:solidFill>
            <a:srgbClr val="02C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9144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 err="1">
                <a:solidFill>
                  <a:srgbClr val="F0F4F8"/>
                </a:solidFill>
                <a:latin typeface="Calibri"/>
              </a:rPr>
              <a:t>Conectando</a:t>
            </a:r>
            <a:r>
              <a:rPr sz="2200" b="0" i="0" dirty="0">
                <a:solidFill>
                  <a:srgbClr val="F0F4F8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F0F4F8"/>
                </a:solidFill>
                <a:latin typeface="Calibri"/>
              </a:rPr>
              <a:t>ideias</a:t>
            </a:r>
            <a:r>
              <a:rPr sz="2200" b="0" i="0" dirty="0">
                <a:solidFill>
                  <a:srgbClr val="F0F4F8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F0F4F8"/>
                </a:solidFill>
                <a:latin typeface="Calibri"/>
              </a:rPr>
              <a:t>ao</a:t>
            </a:r>
            <a:r>
              <a:rPr sz="2200" b="0" i="0" dirty="0">
                <a:solidFill>
                  <a:srgbClr val="F0F4F8"/>
                </a:solidFill>
                <a:latin typeface="Calibri"/>
              </a:rPr>
              <a:t> </a:t>
            </a:r>
            <a:r>
              <a:rPr sz="2200" b="0" i="0" dirty="0" err="1">
                <a:solidFill>
                  <a:srgbClr val="F0F4F8"/>
                </a:solidFill>
                <a:latin typeface="Calibri"/>
              </a:rPr>
              <a:t>conhecimento</a:t>
            </a:r>
            <a:r>
              <a:rPr sz="2200" b="0" i="0" dirty="0">
                <a:solidFill>
                  <a:srgbClr val="F0F4F8"/>
                </a:solidFill>
                <a:latin typeface="Calibri"/>
              </a:rPr>
              <a:t> da </a:t>
            </a:r>
            <a:r>
              <a:rPr sz="2200" b="0" i="0" dirty="0" err="1">
                <a:solidFill>
                  <a:srgbClr val="F0F4F8"/>
                </a:solidFill>
                <a:latin typeface="Calibri"/>
              </a:rPr>
              <a:t>empresa</a:t>
            </a:r>
            <a:r>
              <a:rPr sz="2200" b="0" i="0" dirty="0">
                <a:solidFill>
                  <a:srgbClr val="F0F4F8"/>
                </a:solidFill>
                <a:latin typeface="Calibri"/>
              </a:rPr>
              <a:t>.</a:t>
            </a:r>
            <a:endParaRPr lang="pt-BR" sz="2200" b="0" i="0" dirty="0">
              <a:solidFill>
                <a:srgbClr val="F0F4F8"/>
              </a:solidFill>
              <a:latin typeface="Calibri"/>
            </a:endParaRPr>
          </a:p>
          <a:p>
            <a:pPr algn="l"/>
            <a:endParaRPr lang="pt-BR" sz="2800" b="1" dirty="0">
              <a:solidFill>
                <a:srgbClr val="F0F4F8"/>
              </a:solidFill>
              <a:latin typeface="Calibri"/>
            </a:endParaRPr>
          </a:p>
          <a:p>
            <a:pPr algn="l"/>
            <a:r>
              <a:rPr lang="pt-BR" sz="2800" b="1" i="0" dirty="0">
                <a:solidFill>
                  <a:srgbClr val="F0F4F8"/>
                </a:solidFill>
                <a:latin typeface="Calibri"/>
              </a:rPr>
              <a:t>Obrigado a todos pela atenção! :)</a:t>
            </a:r>
            <a:endParaRPr sz="2800" b="1" i="0" dirty="0">
              <a:solidFill>
                <a:srgbClr val="F0F4F8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5710208"/>
            <a:ext cx="3461002" cy="320040"/>
          </a:xfrm>
          <a:prstGeom prst="rect">
            <a:avLst/>
          </a:prstGeom>
          <a:solidFill>
            <a:srgbClr val="10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2617" y="5753249"/>
            <a:ext cx="36301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2C09A"/>
                </a:solidFill>
                <a:latin typeface="Calibri"/>
              </a:rPr>
              <a:t>github.com/</a:t>
            </a:r>
            <a:r>
              <a:rPr lang="pt-BR" sz="1200" b="1" dirty="0">
                <a:solidFill>
                  <a:srgbClr val="02C09A"/>
                </a:solidFill>
                <a:latin typeface="Calibri"/>
              </a:rPr>
              <a:t>vivianSantos0101</a:t>
            </a:r>
            <a:r>
              <a:rPr sz="1200" b="1" i="0" dirty="0">
                <a:solidFill>
                  <a:srgbClr val="02C09A"/>
                </a:solidFill>
                <a:latin typeface="Calibri"/>
              </a:rPr>
              <a:t>/</a:t>
            </a:r>
            <a:r>
              <a:rPr lang="pt-BR" sz="1200" b="1" dirty="0">
                <a:solidFill>
                  <a:srgbClr val="02C09A"/>
                </a:solidFill>
                <a:latin typeface="Calibri"/>
              </a:rPr>
              <a:t>S</a:t>
            </a:r>
            <a:r>
              <a:rPr sz="1200" b="1" i="0" dirty="0" err="1">
                <a:solidFill>
                  <a:srgbClr val="02C09A"/>
                </a:solidFill>
                <a:latin typeface="Calibri"/>
              </a:rPr>
              <a:t>ynapse</a:t>
            </a:r>
            <a:r>
              <a:rPr lang="pt-BR" sz="1200" b="1" i="0" dirty="0">
                <a:solidFill>
                  <a:srgbClr val="02C09A"/>
                </a:solidFill>
                <a:latin typeface="Calibri"/>
              </a:rPr>
              <a:t>_backend</a:t>
            </a:r>
            <a:endParaRPr sz="1200" b="1" i="0" dirty="0">
              <a:solidFill>
                <a:srgbClr val="02C09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9144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94A3B8"/>
                </a:solidFill>
                <a:latin typeface="Calibri"/>
              </a:rPr>
              <a:t>Desenvolvido</a:t>
            </a:r>
            <a:r>
              <a:rPr sz="130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94A3B8"/>
                </a:solidFill>
                <a:latin typeface="Calibri"/>
              </a:rPr>
              <a:t>por</a:t>
            </a:r>
            <a:r>
              <a:rPr sz="1300" b="0" i="0" dirty="0">
                <a:solidFill>
                  <a:srgbClr val="94A3B8"/>
                </a:solidFill>
                <a:latin typeface="Calibri"/>
              </a:rPr>
              <a:t> Vivian</a:t>
            </a:r>
            <a:r>
              <a:rPr lang="pt-BR" sz="1300" b="0" i="0" dirty="0">
                <a:solidFill>
                  <a:srgbClr val="94A3B8"/>
                </a:solidFill>
                <a:latin typeface="Calibri"/>
              </a:rPr>
              <a:t> e Gabriel Hudson</a:t>
            </a:r>
            <a:r>
              <a:rPr sz="1300" b="0" i="0" dirty="0">
                <a:solidFill>
                  <a:srgbClr val="94A3B8"/>
                </a:solidFill>
                <a:latin typeface="Calibri"/>
              </a:rPr>
              <a:t> · </a:t>
            </a:r>
            <a:r>
              <a:rPr sz="1300" b="0" i="0" dirty="0" err="1">
                <a:solidFill>
                  <a:srgbClr val="94A3B8"/>
                </a:solidFill>
                <a:latin typeface="Calibri"/>
              </a:rPr>
              <a:t>Projeto</a:t>
            </a:r>
            <a:r>
              <a:rPr sz="1300" b="0" i="0" dirty="0">
                <a:solidFill>
                  <a:srgbClr val="94A3B8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94A3B8"/>
                </a:solidFill>
                <a:latin typeface="Calibri"/>
              </a:rPr>
              <a:t>Estágio</a:t>
            </a:r>
            <a:r>
              <a:rPr lang="pt-BR" sz="1300" b="0" i="0" dirty="0">
                <a:solidFill>
                  <a:srgbClr val="94A3B8"/>
                </a:solidFill>
                <a:latin typeface="Calibri"/>
              </a:rPr>
              <a:t> – Turma III</a:t>
            </a:r>
            <a:endParaRPr sz="1300" b="0" i="0" dirty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875</Words>
  <Application>Microsoft Office PowerPoint</Application>
  <PresentationFormat>Custom</PresentationFormat>
  <Paragraphs>144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Vivian</dc:creator>
  <cp:keywords/>
  <dc:description>generated using python-pptx</dc:description>
  <cp:lastModifiedBy>VIVIAN MARIA OLIVEIRA DOS SANTOS</cp:lastModifiedBy>
  <cp:revision>2</cp:revision>
  <dcterms:created xsi:type="dcterms:W3CDTF">2013-01-27T09:14:16Z</dcterms:created>
  <dcterms:modified xsi:type="dcterms:W3CDTF">2026-04-29T20:21:29Z</dcterms:modified>
  <cp:category/>
</cp:coreProperties>
</file>